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F487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850" y="6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425"/>
              </a:lnSpc>
            </a:pPr>
            <a:r>
              <a:rPr dirty="0"/>
              <a:t>@NIET</a:t>
            </a:r>
            <a:r>
              <a:rPr spc="280" dirty="0"/>
              <a:t> </a:t>
            </a:r>
            <a:r>
              <a:rPr dirty="0"/>
              <a:t>MINI</a:t>
            </a:r>
            <a:r>
              <a:rPr spc="-10" dirty="0"/>
              <a:t> </a:t>
            </a:r>
            <a:r>
              <a:rPr dirty="0"/>
              <a:t>PROJECT</a:t>
            </a:r>
            <a:r>
              <a:rPr spc="290" dirty="0"/>
              <a:t> </a:t>
            </a:r>
            <a:r>
              <a:rPr spc="-10" dirty="0"/>
              <a:t>-</a:t>
            </a:r>
            <a:r>
              <a:rPr dirty="0"/>
              <a:t>II /III</a:t>
            </a:r>
            <a:r>
              <a:rPr spc="-20" dirty="0"/>
              <a:t> YEAR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1425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425"/>
              </a:lnSpc>
            </a:pPr>
            <a:r>
              <a:rPr dirty="0"/>
              <a:t>@NIET</a:t>
            </a:r>
            <a:r>
              <a:rPr spc="280" dirty="0"/>
              <a:t> </a:t>
            </a:r>
            <a:r>
              <a:rPr dirty="0"/>
              <a:t>MINI</a:t>
            </a:r>
            <a:r>
              <a:rPr spc="-10" dirty="0"/>
              <a:t> </a:t>
            </a:r>
            <a:r>
              <a:rPr dirty="0"/>
              <a:t>PROJECT</a:t>
            </a:r>
            <a:r>
              <a:rPr spc="290" dirty="0"/>
              <a:t> </a:t>
            </a:r>
            <a:r>
              <a:rPr spc="-10" dirty="0"/>
              <a:t>-</a:t>
            </a:r>
            <a:r>
              <a:rPr dirty="0"/>
              <a:t>II /III</a:t>
            </a:r>
            <a:r>
              <a:rPr spc="-20" dirty="0"/>
              <a:t> YEAR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1425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425"/>
              </a:lnSpc>
            </a:pPr>
            <a:r>
              <a:rPr dirty="0"/>
              <a:t>@NIET</a:t>
            </a:r>
            <a:r>
              <a:rPr spc="280" dirty="0"/>
              <a:t> </a:t>
            </a:r>
            <a:r>
              <a:rPr dirty="0"/>
              <a:t>MINI</a:t>
            </a:r>
            <a:r>
              <a:rPr spc="-10" dirty="0"/>
              <a:t> </a:t>
            </a:r>
            <a:r>
              <a:rPr dirty="0"/>
              <a:t>PROJECT</a:t>
            </a:r>
            <a:r>
              <a:rPr spc="290" dirty="0"/>
              <a:t> </a:t>
            </a:r>
            <a:r>
              <a:rPr spc="-10" dirty="0"/>
              <a:t>-</a:t>
            </a:r>
            <a:r>
              <a:rPr dirty="0"/>
              <a:t>II /III</a:t>
            </a:r>
            <a:r>
              <a:rPr spc="-20" dirty="0"/>
              <a:t> YEAR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3/17/2026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1425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425"/>
              </a:lnSpc>
            </a:pPr>
            <a:r>
              <a:rPr dirty="0"/>
              <a:t>@NIET</a:t>
            </a:r>
            <a:r>
              <a:rPr spc="280" dirty="0"/>
              <a:t> </a:t>
            </a:r>
            <a:r>
              <a:rPr dirty="0"/>
              <a:t>MINI</a:t>
            </a:r>
            <a:r>
              <a:rPr spc="-10" dirty="0"/>
              <a:t> </a:t>
            </a:r>
            <a:r>
              <a:rPr dirty="0"/>
              <a:t>PROJECT</a:t>
            </a:r>
            <a:r>
              <a:rPr spc="290" dirty="0"/>
              <a:t> </a:t>
            </a:r>
            <a:r>
              <a:rPr spc="-10" dirty="0"/>
              <a:t>-</a:t>
            </a:r>
            <a:r>
              <a:rPr dirty="0"/>
              <a:t>II /III</a:t>
            </a:r>
            <a:r>
              <a:rPr spc="-20" dirty="0"/>
              <a:t> YEAR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3/17/2026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1425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425"/>
              </a:lnSpc>
            </a:pPr>
            <a:r>
              <a:rPr dirty="0"/>
              <a:t>@NIET</a:t>
            </a:r>
            <a:r>
              <a:rPr spc="280" dirty="0"/>
              <a:t> </a:t>
            </a:r>
            <a:r>
              <a:rPr dirty="0"/>
              <a:t>MINI</a:t>
            </a:r>
            <a:r>
              <a:rPr spc="-10" dirty="0"/>
              <a:t> </a:t>
            </a:r>
            <a:r>
              <a:rPr dirty="0"/>
              <a:t>PROJECT</a:t>
            </a:r>
            <a:r>
              <a:rPr spc="290" dirty="0"/>
              <a:t> </a:t>
            </a:r>
            <a:r>
              <a:rPr spc="-10" dirty="0"/>
              <a:t>-</a:t>
            </a:r>
            <a:r>
              <a:rPr dirty="0"/>
              <a:t>II /III</a:t>
            </a:r>
            <a:r>
              <a:rPr spc="-20" dirty="0"/>
              <a:t> YEAR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3/17/2026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1425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6376415"/>
            <a:ext cx="12192000" cy="481584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0" y="6355079"/>
            <a:ext cx="12192000" cy="502920"/>
          </a:xfrm>
          <a:custGeom>
            <a:avLst/>
            <a:gdLst/>
            <a:ahLst/>
            <a:cxnLst/>
            <a:rect l="l" t="t" r="r" b="b"/>
            <a:pathLst>
              <a:path w="12192000" h="502920">
                <a:moveTo>
                  <a:pt x="12192000" y="0"/>
                </a:moveTo>
                <a:lnTo>
                  <a:pt x="0" y="0"/>
                </a:lnTo>
                <a:lnTo>
                  <a:pt x="0" y="502920"/>
                </a:lnTo>
                <a:lnTo>
                  <a:pt x="12192000" y="502920"/>
                </a:lnTo>
                <a:lnTo>
                  <a:pt x="12192000" y="0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110232" y="125095"/>
            <a:ext cx="7460233" cy="99275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88340" y="2557729"/>
            <a:ext cx="9227185" cy="173227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962271" y="6445817"/>
            <a:ext cx="2574925" cy="1962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425"/>
              </a:lnSpc>
            </a:pPr>
            <a:r>
              <a:rPr dirty="0"/>
              <a:t>@NIET</a:t>
            </a:r>
            <a:r>
              <a:rPr spc="280" dirty="0"/>
              <a:t> </a:t>
            </a:r>
            <a:r>
              <a:rPr dirty="0"/>
              <a:t>MINI</a:t>
            </a:r>
            <a:r>
              <a:rPr spc="-10" dirty="0"/>
              <a:t> </a:t>
            </a:r>
            <a:r>
              <a:rPr dirty="0"/>
              <a:t>PROJECT</a:t>
            </a:r>
            <a:r>
              <a:rPr spc="290" dirty="0"/>
              <a:t> </a:t>
            </a:r>
            <a:r>
              <a:rPr spc="-10" dirty="0"/>
              <a:t>-</a:t>
            </a:r>
            <a:r>
              <a:rPr dirty="0"/>
              <a:t>II /III</a:t>
            </a:r>
            <a:r>
              <a:rPr spc="-20" dirty="0"/>
              <a:t> YEAR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1310873" y="6445817"/>
            <a:ext cx="231775" cy="1962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1425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jpeg"/><Relationship Id="rId5" Type="http://schemas.openxmlformats.org/officeDocument/2006/relationships/image" Target="../media/image6.jpeg"/><Relationship Id="rId4" Type="http://schemas.openxmlformats.org/officeDocument/2006/relationships/image" Target="../media/image5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800600" y="1100239"/>
            <a:ext cx="2208530" cy="50590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sz="3200" b="1" spc="-10" dirty="0">
                <a:latin typeface="Times New Roman"/>
                <a:cs typeface="Times New Roman"/>
              </a:rPr>
              <a:t>WaveTone</a:t>
            </a:r>
            <a:endParaRPr sz="3200" dirty="0">
              <a:latin typeface="Times New Roman"/>
              <a:cs typeface="Times New Roman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2110232" y="153161"/>
            <a:ext cx="680275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991610" algn="l"/>
              </a:tabLst>
            </a:pPr>
            <a:r>
              <a:rPr sz="4000" spc="95" dirty="0">
                <a:solidFill>
                  <a:srgbClr val="1F487C"/>
                </a:solidFill>
              </a:rPr>
              <a:t>MINI</a:t>
            </a:r>
            <a:r>
              <a:rPr sz="4000" spc="5" dirty="0">
                <a:solidFill>
                  <a:srgbClr val="1F487C"/>
                </a:solidFill>
              </a:rPr>
              <a:t> </a:t>
            </a:r>
            <a:r>
              <a:rPr sz="4000" spc="-10" dirty="0">
                <a:solidFill>
                  <a:srgbClr val="1F487C"/>
                </a:solidFill>
              </a:rPr>
              <a:t>PROJECT</a:t>
            </a:r>
            <a:r>
              <a:rPr sz="4000" dirty="0">
                <a:solidFill>
                  <a:srgbClr val="1F487C"/>
                </a:solidFill>
              </a:rPr>
              <a:t>	</a:t>
            </a:r>
            <a:r>
              <a:rPr sz="4000" spc="185" dirty="0">
                <a:solidFill>
                  <a:srgbClr val="1F487C"/>
                </a:solidFill>
              </a:rPr>
              <a:t>II/III</a:t>
            </a:r>
            <a:r>
              <a:rPr sz="4000" spc="35" dirty="0">
                <a:solidFill>
                  <a:srgbClr val="1F487C"/>
                </a:solidFill>
              </a:rPr>
              <a:t> </a:t>
            </a:r>
            <a:r>
              <a:rPr sz="4000" spc="-80" dirty="0">
                <a:solidFill>
                  <a:srgbClr val="1F487C"/>
                </a:solidFill>
              </a:rPr>
              <a:t>YEAR</a:t>
            </a:r>
            <a:endParaRPr sz="4000"/>
          </a:p>
        </p:txBody>
      </p:sp>
      <p:sp>
        <p:nvSpPr>
          <p:cNvPr id="4" name="object 4"/>
          <p:cNvSpPr txBox="1"/>
          <p:nvPr/>
        </p:nvSpPr>
        <p:spPr>
          <a:xfrm>
            <a:off x="533400" y="1761286"/>
            <a:ext cx="5076825" cy="4483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5"/>
              </a:spcBef>
              <a:buFont typeface="Arial" panose="020B0604020202020204" pitchFamily="34" charset="0"/>
              <a:buChar char="•"/>
              <a:tabLst>
                <a:tab pos="297815" algn="l"/>
              </a:tabLst>
            </a:pPr>
            <a:r>
              <a:rPr sz="2400" b="1" dirty="0">
                <a:latin typeface="Arial"/>
                <a:cs typeface="Arial"/>
              </a:rPr>
              <a:t>Problem</a:t>
            </a:r>
            <a:r>
              <a:rPr sz="2400" b="1" spc="-8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Statement</a:t>
            </a:r>
            <a:r>
              <a:rPr sz="2400" b="1" spc="-80" dirty="0">
                <a:latin typeface="Arial"/>
                <a:cs typeface="Arial"/>
              </a:rPr>
              <a:t> </a:t>
            </a:r>
            <a:r>
              <a:rPr sz="2400" b="1" spc="-10" dirty="0">
                <a:latin typeface="Arial"/>
                <a:cs typeface="Arial"/>
              </a:rPr>
              <a:t>Title-</a:t>
            </a:r>
            <a:r>
              <a:rPr lang="en-US" sz="2400" b="1" spc="-10" dirty="0">
                <a:latin typeface="Arial"/>
                <a:cs typeface="Arial"/>
              </a:rPr>
              <a:t> </a:t>
            </a:r>
            <a:r>
              <a:rPr lang="en-US" sz="2400" dirty="0"/>
              <a:t>Anonymous Moderated Voice Communication Platform</a:t>
            </a:r>
            <a:endParaRPr sz="24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14"/>
              </a:spcBef>
              <a:buFont typeface="Arial MT"/>
              <a:buChar char="•"/>
            </a:pPr>
            <a:endParaRPr sz="2400" dirty="0">
              <a:latin typeface="Arial"/>
              <a:cs typeface="Arial"/>
            </a:endParaRPr>
          </a:p>
          <a:p>
            <a:pPr marL="297815" indent="-285115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297815" algn="l"/>
              </a:tabLst>
            </a:pPr>
            <a:r>
              <a:rPr sz="2400" b="1" dirty="0">
                <a:latin typeface="Arial"/>
                <a:cs typeface="Arial"/>
              </a:rPr>
              <a:t>PS</a:t>
            </a:r>
            <a:r>
              <a:rPr sz="2400" b="1" spc="-6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Category-</a:t>
            </a:r>
            <a:r>
              <a:rPr sz="2400" b="1" spc="-2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Software</a:t>
            </a:r>
            <a:endParaRPr sz="24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20"/>
              </a:spcBef>
              <a:buFont typeface="Arial MT"/>
              <a:buChar char="•"/>
            </a:pPr>
            <a:endParaRPr lang="en-IN" sz="2400" dirty="0">
              <a:latin typeface="Arial"/>
              <a:cs typeface="Arial"/>
            </a:endParaRPr>
          </a:p>
          <a:p>
            <a:pPr marL="297815" indent="-285115">
              <a:lnSpc>
                <a:spcPct val="100000"/>
              </a:lnSpc>
              <a:buFont typeface="Arial MT"/>
              <a:buChar char="•"/>
              <a:tabLst>
                <a:tab pos="297815" algn="l"/>
              </a:tabLst>
            </a:pPr>
            <a:r>
              <a:rPr lang="en-IN" sz="2400" b="1" dirty="0">
                <a:latin typeface="Arial"/>
                <a:cs typeface="Arial"/>
              </a:rPr>
              <a:t>Student</a:t>
            </a:r>
            <a:r>
              <a:rPr lang="en-IN" sz="2400" b="1" spc="-15" dirty="0">
                <a:latin typeface="Arial"/>
                <a:cs typeface="Arial"/>
              </a:rPr>
              <a:t> </a:t>
            </a:r>
            <a:r>
              <a:rPr lang="en-IN" sz="2400" b="1" spc="-10" dirty="0">
                <a:latin typeface="Arial"/>
                <a:cs typeface="Arial"/>
              </a:rPr>
              <a:t>Name- </a:t>
            </a:r>
            <a:br>
              <a:rPr lang="en-IN" sz="2400" b="1" spc="-10" dirty="0">
                <a:latin typeface="Arial"/>
                <a:cs typeface="Arial"/>
              </a:rPr>
            </a:br>
            <a:r>
              <a:rPr lang="en-IN" sz="2400" spc="-10" dirty="0">
                <a:latin typeface="Arial"/>
                <a:cs typeface="Arial"/>
              </a:rPr>
              <a:t>Suneet Chugh,</a:t>
            </a:r>
            <a:br>
              <a:rPr lang="en-IN" sz="2400" spc="-10" dirty="0">
                <a:latin typeface="Arial"/>
                <a:cs typeface="Arial"/>
              </a:rPr>
            </a:br>
            <a:r>
              <a:rPr lang="en-IN" sz="2400" spc="-10" dirty="0" err="1">
                <a:latin typeface="Arial"/>
                <a:cs typeface="Arial"/>
              </a:rPr>
              <a:t>Yasharth</a:t>
            </a:r>
            <a:r>
              <a:rPr lang="en-IN" sz="2400" spc="-10" dirty="0">
                <a:latin typeface="Arial"/>
                <a:cs typeface="Arial"/>
              </a:rPr>
              <a:t> </a:t>
            </a:r>
            <a:r>
              <a:rPr lang="en-IN" sz="2400" spc="-10" dirty="0" err="1">
                <a:latin typeface="Arial"/>
                <a:cs typeface="Arial"/>
              </a:rPr>
              <a:t>Shrinet</a:t>
            </a:r>
            <a:r>
              <a:rPr lang="en-IN" sz="2400" spc="-10" dirty="0">
                <a:latin typeface="Arial"/>
                <a:cs typeface="Arial"/>
              </a:rPr>
              <a:t>,</a:t>
            </a:r>
            <a:br>
              <a:rPr lang="en-IN" sz="2400" spc="-10" dirty="0">
                <a:latin typeface="Arial"/>
                <a:cs typeface="Arial"/>
              </a:rPr>
            </a:br>
            <a:r>
              <a:rPr lang="en-IN" sz="2400" spc="-10" dirty="0">
                <a:latin typeface="Arial"/>
                <a:cs typeface="Arial"/>
              </a:rPr>
              <a:t>Vishnu Bhatt</a:t>
            </a:r>
            <a:endParaRPr lang="en-IN" sz="24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25"/>
              </a:spcBef>
            </a:pPr>
            <a:endParaRPr sz="2400" dirty="0">
              <a:latin typeface="Arial"/>
              <a:cs typeface="Arial"/>
            </a:endParaRPr>
          </a:p>
          <a:p>
            <a:pPr marL="297815" indent="-285115">
              <a:lnSpc>
                <a:spcPct val="100000"/>
              </a:lnSpc>
              <a:buFont typeface="Arial MT"/>
              <a:buChar char="•"/>
              <a:tabLst>
                <a:tab pos="297815" algn="l"/>
              </a:tabLst>
            </a:pPr>
            <a:r>
              <a:rPr sz="2400" b="1" dirty="0">
                <a:latin typeface="Arial"/>
                <a:cs typeface="Arial"/>
              </a:rPr>
              <a:t>Guide</a:t>
            </a:r>
            <a:r>
              <a:rPr sz="2400" b="1" spc="-20" dirty="0">
                <a:latin typeface="Arial"/>
                <a:cs typeface="Arial"/>
              </a:rPr>
              <a:t> </a:t>
            </a:r>
            <a:r>
              <a:rPr sz="2400" b="1" spc="-10" dirty="0">
                <a:latin typeface="Arial"/>
                <a:cs typeface="Arial"/>
              </a:rPr>
              <a:t>Name:</a:t>
            </a:r>
            <a:r>
              <a:rPr lang="en-US" sz="2400" b="1" spc="-10" dirty="0">
                <a:latin typeface="Arial"/>
                <a:cs typeface="Arial"/>
              </a:rPr>
              <a:t> </a:t>
            </a:r>
            <a:r>
              <a:rPr lang="en-US" sz="2400" spc="-10" dirty="0">
                <a:latin typeface="Arial"/>
                <a:cs typeface="Arial"/>
              </a:rPr>
              <a:t>Sachin Singh</a:t>
            </a:r>
            <a:endParaRPr sz="2400" dirty="0">
              <a:latin typeface="Arial"/>
              <a:cs typeface="Arial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566147" y="138684"/>
            <a:ext cx="2625852" cy="1019556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15200" y="2514600"/>
            <a:ext cx="4236094" cy="3570068"/>
          </a:xfrm>
          <a:prstGeom prst="rect">
            <a:avLst/>
          </a:prstGeom>
          <a:ln>
            <a:solidFill>
              <a:schemeClr val="accent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31419" rIns="0" bIns="0" rtlCol="0">
            <a:spAutoFit/>
          </a:bodyPr>
          <a:lstStyle/>
          <a:p>
            <a:pPr marL="2247900">
              <a:lnSpc>
                <a:spcPct val="100000"/>
              </a:lnSpc>
              <a:spcBef>
                <a:spcPts val="100"/>
              </a:spcBef>
            </a:pPr>
            <a:r>
              <a:rPr lang="en-US" dirty="0"/>
              <a:t>WaveTone</a:t>
            </a:r>
            <a:endParaRPr spc="-20" dirty="0"/>
          </a:p>
        </p:txBody>
      </p:sp>
      <p:sp>
        <p:nvSpPr>
          <p:cNvPr id="3" name="object 3"/>
          <p:cNvSpPr txBox="1"/>
          <p:nvPr/>
        </p:nvSpPr>
        <p:spPr>
          <a:xfrm>
            <a:off x="76200" y="1059178"/>
            <a:ext cx="11755120" cy="559448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3695" indent="-342900">
              <a:lnSpc>
                <a:spcPct val="100000"/>
              </a:lnSpc>
              <a:spcBef>
                <a:spcPts val="105"/>
              </a:spcBef>
              <a:buSzPct val="96875"/>
              <a:buFont typeface="Wingdings" panose="05000000000000000000" pitchFamily="2" charset="2"/>
              <a:buChar char="v"/>
              <a:tabLst>
                <a:tab pos="374650" algn="l"/>
              </a:tabLst>
            </a:pPr>
            <a:r>
              <a:rPr sz="2400" b="1" u="sng" dirty="0">
                <a:solidFill>
                  <a:srgbClr val="1F487C"/>
                </a:solidFill>
                <a:uFill>
                  <a:solidFill>
                    <a:srgbClr val="1F487C"/>
                  </a:solidFill>
                </a:uFill>
                <a:latin typeface="Arial"/>
                <a:cs typeface="Arial"/>
              </a:rPr>
              <a:t>Proposed</a:t>
            </a:r>
            <a:r>
              <a:rPr sz="2400" b="1" u="sng" spc="-55" dirty="0">
                <a:solidFill>
                  <a:srgbClr val="1F487C"/>
                </a:solidFill>
                <a:uFill>
                  <a:solidFill>
                    <a:srgbClr val="1F487C"/>
                  </a:solidFill>
                </a:uFill>
                <a:latin typeface="Arial"/>
                <a:cs typeface="Arial"/>
              </a:rPr>
              <a:t> </a:t>
            </a:r>
            <a:r>
              <a:rPr sz="2400" b="1" u="sng" dirty="0">
                <a:solidFill>
                  <a:srgbClr val="1F487C"/>
                </a:solidFill>
                <a:uFill>
                  <a:solidFill>
                    <a:srgbClr val="1F487C"/>
                  </a:solidFill>
                </a:uFill>
                <a:latin typeface="Arial"/>
                <a:cs typeface="Arial"/>
              </a:rPr>
              <a:t>Solution</a:t>
            </a:r>
            <a:endParaRPr lang="en-US" sz="3200" dirty="0">
              <a:latin typeface="Arial"/>
              <a:cs typeface="Arial"/>
            </a:endParaRPr>
          </a:p>
          <a:p>
            <a:pPr marL="10795">
              <a:lnSpc>
                <a:spcPct val="100000"/>
              </a:lnSpc>
              <a:spcBef>
                <a:spcPts val="105"/>
              </a:spcBef>
              <a:buSzPct val="96875"/>
              <a:tabLst>
                <a:tab pos="374650" algn="l"/>
              </a:tabLst>
            </a:pPr>
            <a:endParaRPr lang="en-US" sz="1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Anonymous real-time voice room platform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Peer-to-peer communication using WebRTC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Built-in moderation without storing identity or audio.</a:t>
            </a:r>
          </a:p>
          <a:p>
            <a:endParaRPr lang="en-US" sz="2000" dirty="0"/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400" b="1" u="sng" dirty="0">
                <a:solidFill>
                  <a:srgbClr val="1F487C"/>
                </a:solidFill>
              </a:rPr>
              <a:t>Detailed Explanation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Users join temporary voice rooms with aliases (Echo, Wave, Drift)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Audio is buffered and filtered in real-time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Moderation is rule-based + optional AI assistance</a:t>
            </a:r>
          </a:p>
          <a:p>
            <a:endParaRPr lang="en-US" sz="2000" dirty="0"/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400" b="1" u="sng" dirty="0">
                <a:solidFill>
                  <a:srgbClr val="1F487C"/>
                </a:solidFill>
              </a:rPr>
              <a:t>Innovation &amp; Uniqueness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Latency-aware audio buffering (400ms)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Selective profanity suppression (not full mute)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Governance without identity (session-based system)</a:t>
            </a:r>
          </a:p>
          <a:p>
            <a:pPr marL="10795">
              <a:lnSpc>
                <a:spcPct val="100000"/>
              </a:lnSpc>
              <a:spcBef>
                <a:spcPts val="105"/>
              </a:spcBef>
              <a:buSzPct val="96875"/>
              <a:tabLst>
                <a:tab pos="374650" algn="l"/>
              </a:tabLst>
            </a:pPr>
            <a:endParaRPr sz="2400" dirty="0">
              <a:latin typeface="Arial"/>
              <a:cs typeface="Arial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480804" y="39623"/>
            <a:ext cx="2630424" cy="1019555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dirty="0"/>
              <a:t>@NIET</a:t>
            </a:r>
            <a:r>
              <a:rPr spc="280" dirty="0"/>
              <a:t> </a:t>
            </a:r>
            <a:r>
              <a:rPr dirty="0"/>
              <a:t>MINI</a:t>
            </a:r>
            <a:r>
              <a:rPr spc="-10" dirty="0"/>
              <a:t> </a:t>
            </a:r>
            <a:r>
              <a:rPr dirty="0"/>
              <a:t>PROJECT</a:t>
            </a:r>
            <a:r>
              <a:rPr spc="290" dirty="0"/>
              <a:t> </a:t>
            </a:r>
            <a:r>
              <a:rPr spc="-10" dirty="0"/>
              <a:t>-</a:t>
            </a:r>
            <a:r>
              <a:rPr dirty="0"/>
              <a:t>II /III</a:t>
            </a:r>
            <a:r>
              <a:rPr spc="-20" dirty="0"/>
              <a:t> YEAR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fld id="{81D60167-4931-47E6-BA6A-407CBD079E47}" type="slidenum">
              <a:rPr spc="-25" dirty="0"/>
              <a:t>2</a:t>
            </a:fld>
            <a:endParaRPr spc="-2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09346" rIns="0" bIns="0" rtlCol="0">
            <a:spAutoFit/>
          </a:bodyPr>
          <a:lstStyle/>
          <a:p>
            <a:pPr marL="1273810">
              <a:lnSpc>
                <a:spcPct val="100000"/>
              </a:lnSpc>
              <a:spcBef>
                <a:spcPts val="100"/>
              </a:spcBef>
            </a:pPr>
            <a:r>
              <a:rPr dirty="0"/>
              <a:t>TECHNICAL</a:t>
            </a:r>
            <a:r>
              <a:rPr spc="-405" dirty="0"/>
              <a:t> </a:t>
            </a:r>
            <a:r>
              <a:rPr spc="-10" dirty="0"/>
              <a:t>APPROACH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xfrm>
            <a:off x="685800" y="1051559"/>
            <a:ext cx="9227185" cy="450572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400" b="1" u="sng" dirty="0">
                <a:solidFill>
                  <a:srgbClr val="1F487C"/>
                </a:solidFill>
                <a:uFill>
                  <a:solidFill>
                    <a:srgbClr val="1F487C"/>
                  </a:solidFill>
                </a:uFill>
                <a:latin typeface="Arial"/>
                <a:cs typeface="Arial"/>
              </a:rPr>
              <a:t>Technologies Used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Frontend: React.js, Vite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Backend: Node.js, Express.js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Database: MongoDB Atlas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Real-time: WebRTC + Socket.io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APIs: Web Audio API, Web Speech API, Groq (For AI Summary)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400" b="1" u="sng" dirty="0">
                <a:solidFill>
                  <a:srgbClr val="1F487C"/>
                </a:solidFill>
                <a:uFill>
                  <a:solidFill>
                    <a:srgbClr val="1F487C"/>
                  </a:solidFill>
                </a:uFill>
                <a:latin typeface="Arial"/>
                <a:cs typeface="Arial"/>
              </a:rPr>
              <a:t>Methodology / Flow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User joins room → session ID generated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WebRTC establishes peer connections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Audio passes through buffer pipeline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Profanity detected → segment muted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Warnings / vote-kick handled via server</a:t>
            </a: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407652" y="32003"/>
            <a:ext cx="2630424" cy="1019556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dirty="0"/>
              <a:t>@NIET</a:t>
            </a:r>
            <a:r>
              <a:rPr spc="280" dirty="0"/>
              <a:t> </a:t>
            </a:r>
            <a:r>
              <a:rPr dirty="0"/>
              <a:t>MINI</a:t>
            </a:r>
            <a:r>
              <a:rPr spc="-10" dirty="0"/>
              <a:t> </a:t>
            </a:r>
            <a:r>
              <a:rPr dirty="0"/>
              <a:t>PROJECT</a:t>
            </a:r>
            <a:r>
              <a:rPr spc="290" dirty="0"/>
              <a:t> </a:t>
            </a:r>
            <a:r>
              <a:rPr spc="-10" dirty="0"/>
              <a:t>-</a:t>
            </a:r>
            <a:r>
              <a:rPr dirty="0"/>
              <a:t>II /III</a:t>
            </a:r>
            <a:r>
              <a:rPr spc="-20" dirty="0"/>
              <a:t> YEAR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fld id="{81D60167-4931-47E6-BA6A-407CBD079E47}" type="slidenum">
              <a:rPr spc="-25" dirty="0"/>
              <a:t>3</a:t>
            </a:fld>
            <a:endParaRPr spc="-2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09346" rIns="0" bIns="0" rtlCol="0">
            <a:spAutoFit/>
          </a:bodyPr>
          <a:lstStyle/>
          <a:p>
            <a:pPr marL="242316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Implementation</a:t>
            </a: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407652" y="32003"/>
            <a:ext cx="2630424" cy="1019556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383095" y="1049382"/>
            <a:ext cx="11733276" cy="222817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400" b="1" u="sng" dirty="0">
                <a:solidFill>
                  <a:srgbClr val="1F487C"/>
                </a:solidFill>
                <a:uFill>
                  <a:solidFill>
                    <a:srgbClr val="1F487C"/>
                  </a:solidFill>
                </a:uFill>
                <a:latin typeface="Arial"/>
                <a:ea typeface="+mn-ea"/>
                <a:cs typeface="Arial"/>
              </a:rPr>
              <a:t>Key Modules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  <a:latin typeface="Arial MT"/>
                <a:ea typeface="+mn-ea"/>
                <a:cs typeface="Arial MT"/>
              </a:rPr>
              <a:t>Voice Room (WebRTC communication)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  <a:latin typeface="Arial MT"/>
                <a:ea typeface="+mn-ea"/>
                <a:cs typeface="Arial MT"/>
              </a:rPr>
              <a:t>Audio Pipeline (buffer + filtering)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  <a:latin typeface="Arial MT"/>
                <a:ea typeface="+mn-ea"/>
                <a:cs typeface="Arial MT"/>
              </a:rPr>
              <a:t>Moderation System (warnings, vote-kick)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  <a:latin typeface="Arial MT"/>
                <a:ea typeface="+mn-ea"/>
                <a:cs typeface="Arial MT"/>
              </a:rPr>
              <a:t>Room Management (create/join/leave)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  <a:latin typeface="Arial MT"/>
                <a:ea typeface="+mn-ea"/>
                <a:cs typeface="Arial MT"/>
              </a:rPr>
              <a:t>AI Summary Module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dirty="0"/>
              <a:t>@NIET</a:t>
            </a:r>
            <a:r>
              <a:rPr spc="280" dirty="0"/>
              <a:t> </a:t>
            </a:r>
            <a:r>
              <a:rPr dirty="0"/>
              <a:t>MINI</a:t>
            </a:r>
            <a:r>
              <a:rPr spc="-10" dirty="0"/>
              <a:t> </a:t>
            </a:r>
            <a:r>
              <a:rPr dirty="0"/>
              <a:t>PROJECT</a:t>
            </a:r>
            <a:r>
              <a:rPr spc="290" dirty="0"/>
              <a:t> </a:t>
            </a:r>
            <a:r>
              <a:rPr spc="-10" dirty="0"/>
              <a:t>-</a:t>
            </a:r>
            <a:r>
              <a:rPr dirty="0"/>
              <a:t>II /III</a:t>
            </a:r>
            <a:r>
              <a:rPr spc="-20" dirty="0"/>
              <a:t> YEAR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fld id="{81D60167-4931-47E6-BA6A-407CBD079E47}" type="slidenum">
              <a:rPr spc="-25" dirty="0"/>
              <a:t>4</a:t>
            </a:fld>
            <a:endParaRPr spc="-2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1338" y="221741"/>
            <a:ext cx="144907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b="1" spc="-10" dirty="0">
                <a:latin typeface="Times New Roman"/>
                <a:cs typeface="Times New Roman"/>
              </a:rPr>
              <a:t>Results</a:t>
            </a:r>
            <a:endParaRPr sz="3600">
              <a:latin typeface="Times New Roman"/>
              <a:cs typeface="Times New Roman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407652" y="32003"/>
            <a:ext cx="2630424" cy="1019556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304800" y="1051559"/>
            <a:ext cx="11733276" cy="149015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400" b="1" u="sng" dirty="0">
                <a:solidFill>
                  <a:srgbClr val="1F487C"/>
                </a:solidFill>
                <a:uFill>
                  <a:solidFill>
                    <a:srgbClr val="1F487C"/>
                  </a:solidFill>
                </a:uFill>
                <a:latin typeface="Arial"/>
                <a:ea typeface="+mn-ea"/>
                <a:cs typeface="Arial"/>
              </a:rPr>
              <a:t>Performance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  <a:latin typeface="Arial MT"/>
                <a:ea typeface="+mn-ea"/>
                <a:cs typeface="Arial MT"/>
              </a:rPr>
              <a:t>Latency maintained under ~600ms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  <a:latin typeface="Arial MT"/>
                <a:ea typeface="+mn-ea"/>
                <a:cs typeface="Arial MT"/>
              </a:rPr>
              <a:t>Supports up to 10 users per room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  <a:latin typeface="Arial MT"/>
                <a:ea typeface="+mn-ea"/>
                <a:cs typeface="Arial MT"/>
              </a:rPr>
              <a:t>Real-time moderation without server audio processing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dirty="0"/>
              <a:t>@NIET</a:t>
            </a:r>
            <a:r>
              <a:rPr spc="280" dirty="0"/>
              <a:t> </a:t>
            </a:r>
            <a:r>
              <a:rPr dirty="0"/>
              <a:t>MINI</a:t>
            </a:r>
            <a:r>
              <a:rPr spc="-10" dirty="0"/>
              <a:t> </a:t>
            </a:r>
            <a:r>
              <a:rPr dirty="0"/>
              <a:t>PROJECT</a:t>
            </a:r>
            <a:r>
              <a:rPr spc="290" dirty="0"/>
              <a:t> </a:t>
            </a:r>
            <a:r>
              <a:rPr spc="-10" dirty="0"/>
              <a:t>-</a:t>
            </a:r>
            <a:r>
              <a:rPr dirty="0"/>
              <a:t>II /III</a:t>
            </a:r>
            <a:r>
              <a:rPr spc="-20" dirty="0"/>
              <a:t> YEAR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fld id="{81D60167-4931-47E6-BA6A-407CBD079E47}" type="slidenum">
              <a:rPr spc="-25" dirty="0"/>
              <a:t>5</a:t>
            </a:fld>
            <a:endParaRPr spc="-25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3918481"/>
            <a:ext cx="3220196" cy="1779079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22452" y="1192252"/>
            <a:ext cx="3220196" cy="181136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06564" y="3886200"/>
            <a:ext cx="3220196" cy="181136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19600" y="3886200"/>
            <a:ext cx="3220196" cy="18113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09346" rIns="0" bIns="0" rtlCol="0">
            <a:spAutoFit/>
          </a:bodyPr>
          <a:lstStyle/>
          <a:p>
            <a:pPr marL="706755">
              <a:lnSpc>
                <a:spcPct val="100000"/>
              </a:lnSpc>
              <a:spcBef>
                <a:spcPts val="100"/>
              </a:spcBef>
            </a:pPr>
            <a:r>
              <a:rPr dirty="0"/>
              <a:t>FEASIBILITY</a:t>
            </a:r>
            <a:r>
              <a:rPr spc="-350" dirty="0"/>
              <a:t> </a:t>
            </a:r>
            <a:r>
              <a:rPr dirty="0"/>
              <a:t>AND</a:t>
            </a:r>
            <a:r>
              <a:rPr spc="-70" dirty="0"/>
              <a:t> </a:t>
            </a:r>
            <a:r>
              <a:rPr spc="-10" dirty="0"/>
              <a:t>VIABILITY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88340" y="1117854"/>
            <a:ext cx="11432031" cy="445698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3695" indent="-342900">
              <a:spcBef>
                <a:spcPts val="105"/>
              </a:spcBef>
              <a:buSzPct val="96875"/>
              <a:buFont typeface="Wingdings" panose="05000000000000000000" pitchFamily="2" charset="2"/>
              <a:buChar char="v"/>
              <a:tabLst>
                <a:tab pos="374650" algn="l"/>
              </a:tabLst>
            </a:pPr>
            <a:r>
              <a:rPr lang="en-US" sz="2400" b="1" u="sng" dirty="0">
                <a:solidFill>
                  <a:srgbClr val="1F487C"/>
                </a:solidFill>
                <a:uFill>
                  <a:solidFill>
                    <a:srgbClr val="1F487C"/>
                  </a:solidFill>
                </a:uFill>
                <a:latin typeface="Arial"/>
                <a:cs typeface="Arial"/>
              </a:rPr>
              <a:t>Feasibility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  <a:latin typeface="Arial MT"/>
                <a:ea typeface="+mn-ea"/>
                <a:cs typeface="Arial MT"/>
              </a:rPr>
              <a:t>Uses browser-native APIs (WebRTC, Audio API)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  <a:latin typeface="Arial MT"/>
                <a:ea typeface="+mn-ea"/>
                <a:cs typeface="Arial MT"/>
              </a:rPr>
              <a:t>No heavy infrastructure required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  <a:latin typeface="Arial MT"/>
                <a:ea typeface="+mn-ea"/>
                <a:cs typeface="Arial MT"/>
              </a:rPr>
              <a:t>Scalable for multiple rooms</a:t>
            </a:r>
          </a:p>
          <a:p>
            <a:pPr marL="353695" indent="-342900">
              <a:spcBef>
                <a:spcPts val="105"/>
              </a:spcBef>
              <a:buSzPct val="96875"/>
              <a:buFont typeface="Wingdings" panose="05000000000000000000" pitchFamily="2" charset="2"/>
              <a:buChar char="v"/>
              <a:tabLst>
                <a:tab pos="374650" algn="l"/>
              </a:tabLst>
            </a:pPr>
            <a:r>
              <a:rPr lang="en-US" sz="2400" b="1" u="sng" dirty="0">
                <a:solidFill>
                  <a:srgbClr val="1F487C"/>
                </a:solidFill>
                <a:uFill>
                  <a:solidFill>
                    <a:srgbClr val="1F487C"/>
                  </a:solidFill>
                </a:uFill>
                <a:latin typeface="Arial"/>
                <a:cs typeface="Arial"/>
              </a:rPr>
              <a:t>Challenges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  <a:latin typeface="Arial MT"/>
                <a:ea typeface="+mn-ea"/>
                <a:cs typeface="Arial MT"/>
              </a:rPr>
              <a:t>Browser compatibility issues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  <a:latin typeface="Arial MT"/>
                <a:ea typeface="+mn-ea"/>
                <a:cs typeface="Arial MT"/>
              </a:rPr>
              <a:t>Speech recognition inaccuracies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  <a:latin typeface="Arial MT"/>
                <a:ea typeface="+mn-ea"/>
                <a:cs typeface="Arial MT"/>
              </a:rPr>
              <a:t>Peer connection scaling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400" b="1" u="sng" dirty="0">
                <a:solidFill>
                  <a:srgbClr val="1F487C"/>
                </a:solidFill>
                <a:uFill>
                  <a:solidFill>
                    <a:srgbClr val="1F487C"/>
                  </a:solidFill>
                </a:uFill>
                <a:latin typeface="Arial"/>
                <a:cs typeface="Arial"/>
              </a:rPr>
              <a:t>Solutions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  <a:latin typeface="Arial MT"/>
                <a:ea typeface="+mn-ea"/>
                <a:cs typeface="Arial MT"/>
              </a:rPr>
              <a:t>Fallback for unsupported browsers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  <a:latin typeface="Arial MT"/>
                <a:ea typeface="+mn-ea"/>
                <a:cs typeface="Arial MT"/>
              </a:rPr>
              <a:t>Server-side governance backup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  <a:latin typeface="Arial MT"/>
                <a:ea typeface="+mn-ea"/>
                <a:cs typeface="Arial MT"/>
              </a:rPr>
              <a:t>Limit users to 10 per room</a:t>
            </a: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489947" y="76200"/>
            <a:ext cx="2630424" cy="1019555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dirty="0"/>
              <a:t>@NIET</a:t>
            </a:r>
            <a:r>
              <a:rPr spc="280" dirty="0"/>
              <a:t> </a:t>
            </a:r>
            <a:r>
              <a:rPr dirty="0"/>
              <a:t>MINI</a:t>
            </a:r>
            <a:r>
              <a:rPr spc="-10" dirty="0"/>
              <a:t> </a:t>
            </a:r>
            <a:r>
              <a:rPr dirty="0"/>
              <a:t>PROJECT</a:t>
            </a:r>
            <a:r>
              <a:rPr spc="290" dirty="0"/>
              <a:t> </a:t>
            </a:r>
            <a:r>
              <a:rPr spc="-10" dirty="0"/>
              <a:t>-</a:t>
            </a:r>
            <a:r>
              <a:rPr dirty="0"/>
              <a:t>II /III</a:t>
            </a:r>
            <a:r>
              <a:rPr spc="-20" dirty="0"/>
              <a:t> YEAR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fld id="{81D60167-4931-47E6-BA6A-407CBD079E47}" type="slidenum">
              <a:rPr spc="-25" dirty="0"/>
              <a:t>6</a:t>
            </a:fld>
            <a:endParaRPr spc="-25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53200" y="1988828"/>
            <a:ext cx="5283200" cy="2971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09346" rIns="0" bIns="0" rtlCol="0">
            <a:spAutoFit/>
          </a:bodyPr>
          <a:lstStyle/>
          <a:p>
            <a:pPr marL="1351915">
              <a:lnSpc>
                <a:spcPct val="100000"/>
              </a:lnSpc>
              <a:spcBef>
                <a:spcPts val="100"/>
              </a:spcBef>
            </a:pPr>
            <a:r>
              <a:rPr spc="-70" dirty="0"/>
              <a:t>IMPACT</a:t>
            </a:r>
            <a:r>
              <a:rPr spc="-250" dirty="0"/>
              <a:t> </a:t>
            </a:r>
            <a:r>
              <a:rPr dirty="0"/>
              <a:t>AND</a:t>
            </a:r>
            <a:r>
              <a:rPr spc="30" dirty="0"/>
              <a:t> </a:t>
            </a:r>
            <a:r>
              <a:rPr spc="-10" dirty="0"/>
              <a:t>BENEFITS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88340" y="1059178"/>
            <a:ext cx="11422888" cy="3828612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400" b="1" u="sng" dirty="0">
                <a:solidFill>
                  <a:srgbClr val="1F487C"/>
                </a:solidFill>
                <a:uFill>
                  <a:solidFill>
                    <a:srgbClr val="1F487C"/>
                  </a:solidFill>
                </a:uFill>
                <a:latin typeface="Arial"/>
                <a:cs typeface="Arial"/>
              </a:rPr>
              <a:t>Impact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  <a:latin typeface="Arial MT"/>
                <a:ea typeface="+mn-ea"/>
                <a:cs typeface="Arial MT"/>
              </a:rPr>
              <a:t>Enables safe anonymous discussions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  <a:latin typeface="Arial MT"/>
                <a:ea typeface="+mn-ea"/>
                <a:cs typeface="Arial MT"/>
              </a:rPr>
              <a:t>Useful for study groups, debates, feedback sessions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400" b="1" u="sng" dirty="0">
                <a:solidFill>
                  <a:srgbClr val="1F487C"/>
                </a:solidFill>
                <a:uFill>
                  <a:solidFill>
                    <a:srgbClr val="1F487C"/>
                  </a:solidFill>
                </a:uFill>
                <a:latin typeface="Arial"/>
                <a:cs typeface="Arial"/>
              </a:rPr>
              <a:t>Benefits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  <a:latin typeface="Arial MT"/>
                <a:ea typeface="+mn-ea"/>
                <a:cs typeface="Arial MT"/>
              </a:rPr>
              <a:t>Privacy-first communication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  <a:latin typeface="Arial MT"/>
                <a:ea typeface="+mn-ea"/>
                <a:cs typeface="Arial MT"/>
              </a:rPr>
              <a:t>No data storage (audio not saved)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  <a:latin typeface="Arial MT"/>
                <a:ea typeface="+mn-ea"/>
                <a:cs typeface="Arial MT"/>
              </a:rPr>
              <a:t>Reduced toxicity via moderation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400" b="1" u="sng" dirty="0">
                <a:solidFill>
                  <a:srgbClr val="1F487C"/>
                </a:solidFill>
                <a:uFill>
                  <a:solidFill>
                    <a:srgbClr val="1F487C"/>
                  </a:solidFill>
                </a:uFill>
                <a:latin typeface="Arial"/>
                <a:cs typeface="Arial"/>
              </a:rPr>
              <a:t>Economic / Social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  <a:latin typeface="Arial MT"/>
                <a:ea typeface="+mn-ea"/>
                <a:cs typeface="Arial MT"/>
              </a:rPr>
              <a:t>Low-cost deployment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  <a:latin typeface="Arial MT"/>
                <a:ea typeface="+mn-ea"/>
                <a:cs typeface="Arial MT"/>
              </a:rPr>
              <a:t>Promotes respectful communication</a:t>
            </a: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480804" y="39623"/>
            <a:ext cx="2630424" cy="1019555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dirty="0"/>
              <a:t>@NIET</a:t>
            </a:r>
            <a:r>
              <a:rPr spc="280" dirty="0"/>
              <a:t> </a:t>
            </a:r>
            <a:r>
              <a:rPr dirty="0"/>
              <a:t>MINI</a:t>
            </a:r>
            <a:r>
              <a:rPr spc="-10" dirty="0"/>
              <a:t> </a:t>
            </a:r>
            <a:r>
              <a:rPr dirty="0"/>
              <a:t>PROJECT</a:t>
            </a:r>
            <a:r>
              <a:rPr spc="290" dirty="0"/>
              <a:t> </a:t>
            </a:r>
            <a:r>
              <a:rPr spc="-10" dirty="0"/>
              <a:t>-</a:t>
            </a:r>
            <a:r>
              <a:rPr dirty="0"/>
              <a:t>II /III</a:t>
            </a:r>
            <a:r>
              <a:rPr spc="-20" dirty="0"/>
              <a:t> YEAR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fld id="{81D60167-4931-47E6-BA6A-407CBD079E47}" type="slidenum">
              <a:rPr spc="-25" dirty="0"/>
              <a:t>7</a:t>
            </a:fld>
            <a:endParaRPr spc="-25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09346" rIns="0" bIns="0" rtlCol="0">
            <a:spAutoFit/>
          </a:bodyPr>
          <a:lstStyle/>
          <a:p>
            <a:pPr marL="2944495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Limitation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88340" y="1117854"/>
            <a:ext cx="11422888" cy="1858842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  <a:latin typeface="Arial MT"/>
                <a:ea typeface="+mn-ea"/>
                <a:cs typeface="Arial MT"/>
              </a:rPr>
              <a:t>No mobile app (web-only)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  <a:latin typeface="Arial MT"/>
                <a:ea typeface="+mn-ea"/>
                <a:cs typeface="Arial MT"/>
              </a:rPr>
              <a:t>Speech Recognition not supported in all browsers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  <a:latin typeface="Arial MT"/>
                <a:ea typeface="+mn-ea"/>
                <a:cs typeface="Arial MT"/>
              </a:rPr>
              <a:t>Client-side filtering can be bypassed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  <a:latin typeface="Arial MT"/>
                <a:ea typeface="+mn-ea"/>
                <a:cs typeface="Arial MT"/>
              </a:rPr>
              <a:t>No host transfer (currently)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  <a:latin typeface="Arial MT"/>
                <a:ea typeface="+mn-ea"/>
                <a:cs typeface="Arial MT"/>
              </a:rPr>
              <a:t>Mesh WebRTC limits scalability</a:t>
            </a: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480804" y="39623"/>
            <a:ext cx="2630424" cy="1019555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dirty="0"/>
              <a:t>@NIET</a:t>
            </a:r>
            <a:r>
              <a:rPr spc="280" dirty="0"/>
              <a:t> </a:t>
            </a:r>
            <a:r>
              <a:rPr dirty="0"/>
              <a:t>MINI</a:t>
            </a:r>
            <a:r>
              <a:rPr spc="-10" dirty="0"/>
              <a:t> </a:t>
            </a:r>
            <a:r>
              <a:rPr dirty="0"/>
              <a:t>PROJECT</a:t>
            </a:r>
            <a:r>
              <a:rPr spc="290" dirty="0"/>
              <a:t> </a:t>
            </a:r>
            <a:r>
              <a:rPr spc="-10" dirty="0"/>
              <a:t>-</a:t>
            </a:r>
            <a:r>
              <a:rPr dirty="0"/>
              <a:t>II /III</a:t>
            </a:r>
            <a:r>
              <a:rPr spc="-20" dirty="0"/>
              <a:t> YEAR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fld id="{81D60167-4931-47E6-BA6A-407CBD079E47}" type="slidenum">
              <a:rPr spc="-25" dirty="0"/>
              <a:t>8</a:t>
            </a:fld>
            <a:endParaRPr spc="-25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09346" rIns="0" bIns="0" rtlCol="0">
            <a:spAutoFit/>
          </a:bodyPr>
          <a:lstStyle/>
          <a:p>
            <a:pPr marL="523875">
              <a:lnSpc>
                <a:spcPct val="100000"/>
              </a:lnSpc>
              <a:spcBef>
                <a:spcPts val="100"/>
              </a:spcBef>
            </a:pPr>
            <a:r>
              <a:rPr dirty="0"/>
              <a:t>RESEARCH</a:t>
            </a:r>
            <a:r>
              <a:rPr spc="675" dirty="0"/>
              <a:t> </a:t>
            </a:r>
            <a:r>
              <a:rPr dirty="0"/>
              <a:t>AND</a:t>
            </a:r>
            <a:r>
              <a:rPr spc="5" dirty="0"/>
              <a:t> </a:t>
            </a:r>
            <a:r>
              <a:rPr spc="-10" dirty="0"/>
              <a:t>REFERENCES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2000" y="973421"/>
            <a:ext cx="11353800" cy="229229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42900" indent="-342900">
              <a:lnSpc>
                <a:spcPct val="100000"/>
              </a:lnSpc>
              <a:spcBef>
                <a:spcPts val="95"/>
              </a:spcBef>
              <a:buFont typeface="Arial" panose="020B0604020202020204" pitchFamily="34" charset="0"/>
              <a:buChar char="•"/>
              <a:tabLst>
                <a:tab pos="354330" algn="l"/>
              </a:tabLst>
            </a:pPr>
            <a:r>
              <a:rPr lang="en-US" sz="2400" dirty="0">
                <a:solidFill>
                  <a:schemeClr val="tx1"/>
                </a:solidFill>
                <a:latin typeface="Arial MT"/>
                <a:ea typeface="+mn-ea"/>
                <a:cs typeface="Arial MT"/>
              </a:rPr>
              <a:t>WebRTC Documentation (Google Developers)</a:t>
            </a:r>
          </a:p>
          <a:p>
            <a:pPr marL="342900" indent="-342900">
              <a:lnSpc>
                <a:spcPct val="100000"/>
              </a:lnSpc>
              <a:spcBef>
                <a:spcPts val="95"/>
              </a:spcBef>
              <a:buFont typeface="Arial" panose="020B0604020202020204" pitchFamily="34" charset="0"/>
              <a:buChar char="•"/>
              <a:tabLst>
                <a:tab pos="354330" algn="l"/>
              </a:tabLst>
            </a:pPr>
            <a:r>
              <a:rPr lang="en-US" sz="2400" dirty="0">
                <a:solidFill>
                  <a:schemeClr val="tx1"/>
                </a:solidFill>
                <a:latin typeface="Arial MT"/>
                <a:ea typeface="+mn-ea"/>
                <a:cs typeface="Arial MT"/>
              </a:rPr>
              <a:t>Socket.io Docs</a:t>
            </a:r>
          </a:p>
          <a:p>
            <a:pPr marL="342900" indent="-342900">
              <a:lnSpc>
                <a:spcPct val="100000"/>
              </a:lnSpc>
              <a:spcBef>
                <a:spcPts val="95"/>
              </a:spcBef>
              <a:buFont typeface="Arial" panose="020B0604020202020204" pitchFamily="34" charset="0"/>
              <a:buChar char="•"/>
              <a:tabLst>
                <a:tab pos="354330" algn="l"/>
              </a:tabLst>
            </a:pPr>
            <a:r>
              <a:rPr lang="en-US" sz="2400" dirty="0">
                <a:solidFill>
                  <a:schemeClr val="tx1"/>
                </a:solidFill>
                <a:latin typeface="Arial MT"/>
                <a:ea typeface="+mn-ea"/>
                <a:cs typeface="Arial MT"/>
              </a:rPr>
              <a:t>MongoDB Atlas Docs</a:t>
            </a:r>
          </a:p>
          <a:p>
            <a:pPr marL="342900" indent="-342900">
              <a:lnSpc>
                <a:spcPct val="100000"/>
              </a:lnSpc>
              <a:spcBef>
                <a:spcPts val="95"/>
              </a:spcBef>
              <a:buFont typeface="Arial" panose="020B0604020202020204" pitchFamily="34" charset="0"/>
              <a:buChar char="•"/>
              <a:tabLst>
                <a:tab pos="354330" algn="l"/>
              </a:tabLst>
            </a:pPr>
            <a:r>
              <a:rPr lang="en-US" sz="2400" dirty="0">
                <a:solidFill>
                  <a:schemeClr val="tx1"/>
                </a:solidFill>
                <a:latin typeface="Arial MT"/>
                <a:ea typeface="+mn-ea"/>
                <a:cs typeface="Arial MT"/>
              </a:rPr>
              <a:t>Web Audio API (MDN)</a:t>
            </a:r>
          </a:p>
          <a:p>
            <a:pPr marL="342900" indent="-342900">
              <a:lnSpc>
                <a:spcPct val="100000"/>
              </a:lnSpc>
              <a:spcBef>
                <a:spcPts val="95"/>
              </a:spcBef>
              <a:buFont typeface="Arial" panose="020B0604020202020204" pitchFamily="34" charset="0"/>
              <a:buChar char="•"/>
              <a:tabLst>
                <a:tab pos="354330" algn="l"/>
              </a:tabLst>
            </a:pPr>
            <a:r>
              <a:rPr lang="en-US" sz="2400" dirty="0">
                <a:solidFill>
                  <a:schemeClr val="tx1"/>
                </a:solidFill>
                <a:latin typeface="Arial MT"/>
                <a:ea typeface="+mn-ea"/>
                <a:cs typeface="Arial MT"/>
              </a:rPr>
              <a:t>Google Gemini API Docs</a:t>
            </a:r>
          </a:p>
          <a:p>
            <a:pPr marL="342900" indent="-342900">
              <a:lnSpc>
                <a:spcPct val="100000"/>
              </a:lnSpc>
              <a:spcBef>
                <a:spcPts val="95"/>
              </a:spcBef>
              <a:buFont typeface="Arial" panose="020B0604020202020204" pitchFamily="34" charset="0"/>
              <a:buChar char="•"/>
              <a:tabLst>
                <a:tab pos="354330" algn="l"/>
              </a:tabLst>
            </a:pPr>
            <a:r>
              <a:rPr lang="en-US" sz="2400" dirty="0">
                <a:solidFill>
                  <a:schemeClr val="tx1"/>
                </a:solidFill>
                <a:latin typeface="Arial MT"/>
                <a:ea typeface="+mn-ea"/>
                <a:cs typeface="Arial MT"/>
              </a:rPr>
              <a:t>Web Speech API (MDN)</a:t>
            </a:r>
            <a:endParaRPr sz="2400" dirty="0">
              <a:solidFill>
                <a:schemeClr val="tx1"/>
              </a:solidFill>
              <a:latin typeface="Arial MT"/>
              <a:ea typeface="+mn-ea"/>
              <a:cs typeface="Arial MT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627107" y="39623"/>
            <a:ext cx="2564892" cy="933798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dirty="0"/>
              <a:t>@NIET</a:t>
            </a:r>
            <a:r>
              <a:rPr spc="280" dirty="0"/>
              <a:t> </a:t>
            </a:r>
            <a:r>
              <a:rPr dirty="0"/>
              <a:t>MINI</a:t>
            </a:r>
            <a:r>
              <a:rPr spc="-10" dirty="0"/>
              <a:t> </a:t>
            </a:r>
            <a:r>
              <a:rPr dirty="0"/>
              <a:t>PROJECT</a:t>
            </a:r>
            <a:r>
              <a:rPr spc="290" dirty="0"/>
              <a:t> </a:t>
            </a:r>
            <a:r>
              <a:rPr spc="-10" dirty="0"/>
              <a:t>-</a:t>
            </a:r>
            <a:r>
              <a:rPr dirty="0"/>
              <a:t>II /III</a:t>
            </a:r>
            <a:r>
              <a:rPr spc="-20" dirty="0"/>
              <a:t> YEAR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fld id="{81D60167-4931-47E6-BA6A-407CBD079E47}" type="slidenum">
              <a:rPr spc="-25" dirty="0"/>
              <a:t>9</a:t>
            </a:fld>
            <a:endParaRPr spc="-2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80</TotalTime>
  <Words>469</Words>
  <Application>Microsoft Office PowerPoint</Application>
  <PresentationFormat>Widescreen</PresentationFormat>
  <Paragraphs>103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Arial MT</vt:lpstr>
      <vt:lpstr>Times New Roman</vt:lpstr>
      <vt:lpstr>Wingdings</vt:lpstr>
      <vt:lpstr>Office Theme</vt:lpstr>
      <vt:lpstr>MINI PROJECT II/III YEAR</vt:lpstr>
      <vt:lpstr>WaveTone</vt:lpstr>
      <vt:lpstr>TECHNICAL APPROACH</vt:lpstr>
      <vt:lpstr>Implementation</vt:lpstr>
      <vt:lpstr>PowerPoint Presentation</vt:lpstr>
      <vt:lpstr>FEASIBILITY AND VIABILITY</vt:lpstr>
      <vt:lpstr>IMPACT AND BENEFITS</vt:lpstr>
      <vt:lpstr>Limitation</vt:lpstr>
      <vt:lpstr>RESEARCH AND 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creator>Crowdfunder</dc:creator>
  <cp:lastModifiedBy>Krish Chugh</cp:lastModifiedBy>
  <cp:revision>12</cp:revision>
  <dcterms:created xsi:type="dcterms:W3CDTF">2026-03-12T05:00:15Z</dcterms:created>
  <dcterms:modified xsi:type="dcterms:W3CDTF">2026-03-17T09:33:08Z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2026-03-12T00:00:00Z</vt:filetime>
  </property>
  <property fmtid="{D5CDD505-2E9C-101B-9397-08002B2CF9AE}" pid="3" name="Creator">
    <vt:lpwstr>Microsoft® PowerPoint® 2013</vt:lpwstr>
  </property>
  <property fmtid="{D5CDD505-2E9C-101B-9397-08002B2CF9AE}" pid="4" name="LastSaved">
    <vt:filetime>2026-03-12T00:00:00Z</vt:filetime>
  </property>
  <property fmtid="{D5CDD505-2E9C-101B-9397-08002B2CF9AE}" pid="5" name="Producer">
    <vt:lpwstr>Microsoft® PowerPoint® 2013</vt:lpwstr>
  </property>
</Properties>
</file>